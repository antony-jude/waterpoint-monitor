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4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CLqoX1UAGNYeIQC4wmn-nMWIzQqWwUFM?usp=drive_link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hyperlink" Target="https://water-point-monitor.vercel.app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D261224-65D0-5FBB-A356-ADC991056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73984"/>
            <a:ext cx="11104880" cy="5815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B241BD-9895-5BD8-0EB6-F8E1459B73BC}"/>
              </a:ext>
            </a:extLst>
          </p:cNvPr>
          <p:cNvSpPr txBox="1"/>
          <p:nvPr/>
        </p:nvSpPr>
        <p:spPr>
          <a:xfrm>
            <a:off x="2770584" y="2033587"/>
            <a:ext cx="6650831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0A84FF"/>
                </a:solidFill>
                <a:latin typeface="Inter"/>
              </a:rPr>
              <a:t>Water</a:t>
            </a:r>
            <a:r>
              <a:rPr lang="en-IN" sz="5400" b="1" dirty="0">
                <a:solidFill>
                  <a:srgbClr val="0A84FF"/>
                </a:solidFill>
                <a:latin typeface="Inter"/>
              </a:rPr>
              <a:t>-</a:t>
            </a:r>
            <a:r>
              <a:rPr sz="5400" b="1" i="0" u="none" dirty="0">
                <a:solidFill>
                  <a:srgbClr val="0A84FF"/>
                </a:solidFill>
                <a:latin typeface="Inter"/>
              </a:rPr>
              <a:t>Point 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6D9967-D5B2-A796-E9F6-BAFA53A972D7}"/>
              </a:ext>
            </a:extLst>
          </p:cNvPr>
          <p:cNvSpPr txBox="1"/>
          <p:nvPr/>
        </p:nvSpPr>
        <p:spPr>
          <a:xfrm>
            <a:off x="2095500" y="3090862"/>
            <a:ext cx="8001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1D1D1F"/>
                </a:solidFill>
                <a:latin typeface="Inter Medium"/>
              </a:rPr>
              <a:t>IoT-Based Smart Village Water Point Uptime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47775"/>
            <a:ext cx="5467350" cy="5133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47775"/>
            <a:ext cx="546735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228850"/>
            <a:ext cx="47053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WaterPoint Monitor uses an ESP32-based IoT device to monitor water flow, detect faults automatically, send data to a centralized server, and display live information on a smart dashboard.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62112"/>
            <a:ext cx="3048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50" y="1628775"/>
            <a:ext cx="196024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D1D1F"/>
                </a:solidFill>
                <a:latin typeface="Inter SemiBold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22288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Manual monitoring of village water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26670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Delayed fault reporting.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1051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Significant water wastage.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5433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Long maintenance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9814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No real-time monitoring available.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62112"/>
            <a:ext cx="2286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10400" y="1628775"/>
            <a:ext cx="192024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D1D1F"/>
                </a:solidFill>
                <a:latin typeface="Inter SemiBold"/>
              </a:rPr>
              <a:t>Our Solution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324100"/>
            <a:ext cx="76200" cy="76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62250"/>
            <a:ext cx="76200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00400"/>
            <a:ext cx="76200" cy="76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638550"/>
            <a:ext cx="76200" cy="76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0767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System Architecture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FE416F94-1F4C-AB10-22E9-E8523E514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1" y="2475834"/>
            <a:ext cx="11623590" cy="244415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3C713E4E-A3FD-244E-3CB2-DC317BF46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87" y="3700462"/>
            <a:ext cx="200025" cy="2286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B3E16280-E62C-C66B-2248-9FF145276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837" y="3700462"/>
            <a:ext cx="200025" cy="2286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A796040C-C8C2-3435-CF16-7E5E4086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3700462"/>
            <a:ext cx="200025" cy="228600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56A4BCC1-2A5A-E66E-70CC-DE4A37834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37" y="3700462"/>
            <a:ext cx="200025" cy="22860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DBC869B8-0CE0-7432-FC14-FC8B7B988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0287" y="3700462"/>
            <a:ext cx="200025" cy="2286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07015F19-5969-8258-B567-B90F2A18E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" y="3357562"/>
            <a:ext cx="428625" cy="381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1527C96-F8E4-D91D-5E3D-F8D77B6CDA0F}"/>
              </a:ext>
            </a:extLst>
          </p:cNvPr>
          <p:cNvSpPr txBox="1"/>
          <p:nvPr/>
        </p:nvSpPr>
        <p:spPr>
          <a:xfrm>
            <a:off x="47625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1D1D1F"/>
                </a:solidFill>
                <a:latin typeface="Inter SemiBold"/>
              </a:rPr>
              <a:t>Flow Sensor</a:t>
            </a:r>
            <a:r>
              <a:rPr dirty="0"/>
              <a:t>
</a:t>
            </a:r>
            <a:r>
              <a:rPr sz="1200" b="0" i="0" u="none" dirty="0">
                <a:solidFill>
                  <a:srgbClr val="1D1D1F"/>
                </a:solidFill>
                <a:latin typeface="Inter SemiBold"/>
              </a:rPr>
              <a:t>(Potentiometer)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B09E4DE2-DCF8-3892-23A1-8BC802D5AC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5" y="3357562"/>
            <a:ext cx="381000" cy="381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CB0E7A4-6F74-B971-D13D-83954A4B233F}"/>
              </a:ext>
            </a:extLst>
          </p:cNvPr>
          <p:cNvSpPr txBox="1"/>
          <p:nvPr/>
        </p:nvSpPr>
        <p:spPr>
          <a:xfrm>
            <a:off x="243840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D1D1F"/>
                </a:solidFill>
                <a:latin typeface="Inter SemiBold"/>
              </a:rPr>
              <a:t>ESP32</a:t>
            </a:r>
            <a:r>
              <a:t>
</a:t>
            </a:r>
            <a:r>
              <a:rPr sz="1200" b="0" i="0" u="none">
                <a:solidFill>
                  <a:srgbClr val="1D1D1F"/>
                </a:solidFill>
                <a:latin typeface="Inter SemiBold"/>
              </a:rPr>
              <a:t> Microcontroller</a:t>
            </a:r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E3A833CC-DFAD-8E7E-B286-1FF6386A28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3357562"/>
            <a:ext cx="476250" cy="381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FA2F85D5-8CC9-743F-EC5B-C271F911D8DA}"/>
              </a:ext>
            </a:extLst>
          </p:cNvPr>
          <p:cNvSpPr txBox="1"/>
          <p:nvPr/>
        </p:nvSpPr>
        <p:spPr>
          <a:xfrm>
            <a:off x="440055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D1D1F"/>
                </a:solidFill>
                <a:latin typeface="Inter SemiBold"/>
              </a:rPr>
              <a:t>Wi-Fi /</a:t>
            </a:r>
            <a:r>
              <a:t>
</a:t>
            </a:r>
            <a:r>
              <a:rPr sz="1200" b="0" i="0" u="none">
                <a:solidFill>
                  <a:srgbClr val="1D1D1F"/>
                </a:solidFill>
                <a:latin typeface="Inter SemiBold"/>
              </a:rPr>
              <a:t> HTTP POST</a:t>
            </a:r>
          </a:p>
        </p:txBody>
      </p:sp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EA2F9171-C04F-2492-1AF3-4867FEE70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387" y="3357562"/>
            <a:ext cx="333375" cy="3810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0E8A8AF-0AE1-EF8F-8A8D-0CD686491F38}"/>
              </a:ext>
            </a:extLst>
          </p:cNvPr>
          <p:cNvSpPr txBox="1"/>
          <p:nvPr/>
        </p:nvSpPr>
        <p:spPr>
          <a:xfrm>
            <a:off x="636270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1D1D1F"/>
                </a:solidFill>
                <a:latin typeface="Inter SemiBold"/>
              </a:rPr>
              <a:t>Node.js +</a:t>
            </a:r>
            <a:r>
              <a:rPr dirty="0"/>
              <a:t>
</a:t>
            </a:r>
            <a:r>
              <a:rPr sz="1200" b="0" i="0" u="none" dirty="0">
                <a:solidFill>
                  <a:srgbClr val="1D1D1F"/>
                </a:solidFill>
                <a:latin typeface="Inter SemiBold"/>
              </a:rPr>
              <a:t> Express API</a:t>
            </a:r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AFB7DB6D-3687-416B-3FF9-8D35C31CAE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537" y="3357562"/>
            <a:ext cx="333375" cy="3810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836B4CE5-CE88-B32B-2E75-487350BA9DC2}"/>
              </a:ext>
            </a:extLst>
          </p:cNvPr>
          <p:cNvSpPr txBox="1"/>
          <p:nvPr/>
        </p:nvSpPr>
        <p:spPr>
          <a:xfrm>
            <a:off x="832485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D1D1F"/>
                </a:solidFill>
                <a:latin typeface="Inter SemiBold"/>
              </a:rPr>
              <a:t>SQLite</a:t>
            </a:r>
            <a:r>
              <a:t>
</a:t>
            </a:r>
            <a:r>
              <a:rPr sz="1200" b="0" i="0" u="none">
                <a:solidFill>
                  <a:srgbClr val="1D1D1F"/>
                </a:solidFill>
                <a:latin typeface="Inter SemiBold"/>
              </a:rPr>
              <a:t> Database</a:t>
            </a:r>
          </a:p>
        </p:txBody>
      </p:sp>
      <p:pic>
        <p:nvPicPr>
          <p:cNvPr id="53" name="Picture 52" descr="image.png">
            <a:extLst>
              <a:ext uri="{FF2B5EF4-FFF2-40B4-BE49-F238E27FC236}">
                <a16:creationId xmlns:a16="http://schemas.microsoft.com/office/drawing/2014/main" id="{AB54B44F-3B7A-9695-DA1F-274B98425A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875" y="3357562"/>
            <a:ext cx="381000" cy="381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3BF4144-876D-988C-3102-E6671B54E025}"/>
              </a:ext>
            </a:extLst>
          </p:cNvPr>
          <p:cNvSpPr txBox="1"/>
          <p:nvPr/>
        </p:nvSpPr>
        <p:spPr>
          <a:xfrm>
            <a:off x="10287000" y="3890962"/>
            <a:ext cx="1428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D1D1F"/>
                </a:solidFill>
                <a:latin typeface="Inter SemiBold"/>
              </a:rPr>
              <a:t>React</a:t>
            </a:r>
            <a:r>
              <a:t>
</a:t>
            </a:r>
            <a:r>
              <a:rPr sz="1200" b="0" i="0" u="none">
                <a:solidFill>
                  <a:srgbClr val="1D1D1F"/>
                </a:solidFill>
                <a:latin typeface="Inter SemiBold"/>
              </a:rPr>
              <a:t>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47775"/>
            <a:ext cx="5467350" cy="24145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47775"/>
            <a:ext cx="5467350" cy="24145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967162"/>
            <a:ext cx="5467350" cy="24145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967162"/>
            <a:ext cx="5467350" cy="2414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Technologies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312193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A84FF"/>
                </a:solidFill>
                <a:latin typeface="Inter SemiBold"/>
              </a:rPr>
              <a:t>React.js • Bootstrap • Chart.js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2616993"/>
            <a:ext cx="485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86868B"/>
                </a:solidFill>
                <a:latin typeface="Inter"/>
              </a:rPr>
              <a:t>Dynamic, component-based user interface for real-time visualization.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312193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A84FF"/>
                </a:solidFill>
                <a:latin typeface="Inter SemiBold"/>
              </a:rPr>
              <a:t>Node.js • Express.js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616993"/>
            <a:ext cx="485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86868B"/>
                </a:solidFill>
                <a:latin typeface="Inter"/>
              </a:rPr>
              <a:t>Fast, scalable server architecture with robust RESTful API routing.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5031581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A84FF"/>
                </a:solidFill>
                <a:latin typeface="Inter SemiBold"/>
              </a:rPr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5336381"/>
            <a:ext cx="485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86868B"/>
                </a:solidFill>
                <a:latin typeface="Inter"/>
              </a:rPr>
              <a:t>Lightweight, fast, relational data storage for point tracking and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5031581"/>
            <a:ext cx="51006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A84FF"/>
                </a:solidFill>
                <a:latin typeface="Inter SemiBold"/>
              </a:rPr>
              <a:t>ESP32 • Wokwi • Arduino IDE •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5336381"/>
            <a:ext cx="485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86868B"/>
                </a:solidFill>
                <a:latin typeface="Inter"/>
              </a:rPr>
              <a:t>Low-cost edge processing, circuit simulation, and direct cloud communication.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1778793"/>
            <a:ext cx="3810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50" y="1807368"/>
            <a:ext cx="12001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D1D1F"/>
                </a:solidFill>
                <a:latin typeface="Inter SemiBold"/>
              </a:rPr>
              <a:t>Frontend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778793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38975" y="1807368"/>
            <a:ext cx="116014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D1D1F"/>
                </a:solidFill>
                <a:latin typeface="Inter SemiBold"/>
              </a:rPr>
              <a:t>Backend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498181"/>
            <a:ext cx="333375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66825" y="4526756"/>
            <a:ext cx="127015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D1D1F"/>
                </a:solidFill>
                <a:latin typeface="Inter SemiBold"/>
              </a:rPr>
              <a:t>Database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4498181"/>
            <a:ext cx="381000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86600" y="4526756"/>
            <a:ext cx="205025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D1D1F"/>
                </a:solidFill>
                <a:latin typeface="Inter SemiBold"/>
              </a:rPr>
              <a:t>IoT &amp;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Working Process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FE5891-8761-99E3-7614-0987A130A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90" y="1305836"/>
            <a:ext cx="7230964" cy="48206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30980B3-2F78-2885-2D6C-22E3128F1D67}"/>
              </a:ext>
            </a:extLst>
          </p:cNvPr>
          <p:cNvSpPr txBox="1"/>
          <p:nvPr/>
        </p:nvSpPr>
        <p:spPr>
          <a:xfrm>
            <a:off x="801370" y="6304674"/>
            <a:ext cx="2724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Working Video DEMO LINK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3C987A-D67F-BA29-ADEF-E838BF044B5E}"/>
              </a:ext>
            </a:extLst>
          </p:cNvPr>
          <p:cNvSpPr txBox="1"/>
          <p:nvPr/>
        </p:nvSpPr>
        <p:spPr>
          <a:xfrm>
            <a:off x="3616960" y="6304674"/>
            <a:ext cx="175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Deployment Link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5B292A-EBD3-BD51-1FBB-047B404AC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800" y="1390489"/>
            <a:ext cx="4215562" cy="20385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8121DF-0323-69E5-00BF-936B782F3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0800" y="3876514"/>
            <a:ext cx="4339590" cy="2050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9" y="1247775"/>
            <a:ext cx="6390885" cy="479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Features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28775"/>
            <a:ext cx="608872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D1D1F"/>
                </a:solidFill>
                <a:latin typeface="Inter SemiBold"/>
              </a:rPr>
              <a:t>Dashboard Capabilities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41" y="579835"/>
            <a:ext cx="4412009" cy="2763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41" y="3590925"/>
            <a:ext cx="4373909" cy="291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50" y="218122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Live Water Point Status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261937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Real-time Flow Value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05752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Auto-categorization: Working / Low Flow / Not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49567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Historical Analytics Charts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50" y="393382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Instant Alert Notifications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4371975"/>
            <a:ext cx="553209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Digital Maintenance Logs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76475"/>
            <a:ext cx="76200" cy="76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14625"/>
            <a:ext cx="76200" cy="76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152775"/>
            <a:ext cx="76200" cy="76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590925"/>
            <a:ext cx="76200" cy="76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29075"/>
            <a:ext cx="76200" cy="76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467225"/>
            <a:ext cx="76200" cy="76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93D0CA-B5E7-BB31-4396-A6AD6A8A6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34" y="664633"/>
            <a:ext cx="4115168" cy="25759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B3A4A57-AF1F-90D8-DB0C-A5B54CF1B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9287" y="3641725"/>
            <a:ext cx="4162815" cy="2664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0"/>
            <a:ext cx="12192000" cy="1143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247775"/>
            <a:ext cx="5467350" cy="416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47775"/>
            <a:ext cx="5467350" cy="416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A84FF"/>
                </a:solidFill>
                <a:latin typeface="Inter"/>
              </a:rPr>
              <a:t>Advantages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100762"/>
            <a:ext cx="164020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FFFFF"/>
                </a:solidFill>
                <a:latin typeface="Inter Semi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7050" y="5962650"/>
            <a:ext cx="1028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Inter Medium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6324600"/>
            <a:ext cx="4286250" cy="2857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FFFFFF"/>
                </a:solidFill>
                <a:latin typeface="Inter Medium"/>
              </a:rPr>
              <a:t> github.com/antony-jude/WaterPoint-Monitor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6372225"/>
            <a:ext cx="1809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662112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50" y="1628775"/>
            <a:ext cx="186023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D1D1F"/>
                </a:solidFill>
                <a:latin typeface="Inter SemiBold"/>
              </a:rPr>
              <a:t>Advantages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22288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Real-time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26670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Automatic Fault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31051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Low Cost &amp; IoT-Based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35433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Easy Maintenance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39814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Highly Scalable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44196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Village Friendly &amp; Accessible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662112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1628775"/>
            <a:ext cx="206025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D1D1F"/>
                </a:solidFill>
                <a:latin typeface="Inter SemiBold"/>
              </a:rP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6100" y="22288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Real Physical Flow Sensors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6100" y="26670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GSM/4G &amp; LoRa/NB-IoT 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6100" y="31051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Dedicated Mobile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6100" y="35433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SMS Alerts for Offline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6100" y="398145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AI-based Predictive 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6100" y="44196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1D1D1F"/>
                </a:solidFill>
                <a:latin typeface="Inter"/>
              </a:rPr>
              <a:t>Full Cloud Deployment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324100"/>
            <a:ext cx="76200" cy="76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762250"/>
            <a:ext cx="76200" cy="76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200400"/>
            <a:ext cx="76200" cy="762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638550"/>
            <a:ext cx="76200" cy="762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076700"/>
            <a:ext cx="76200" cy="762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514850"/>
            <a:ext cx="76200" cy="762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324100"/>
            <a:ext cx="76200" cy="762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762250"/>
            <a:ext cx="76200" cy="762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200400"/>
            <a:ext cx="76200" cy="762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638550"/>
            <a:ext cx="76200" cy="762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76700"/>
            <a:ext cx="76200" cy="762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51485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292</Words>
  <Application>Microsoft Office PowerPoint</Application>
  <PresentationFormat>Widescreen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Inter Medium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Antony Jude</cp:lastModifiedBy>
  <cp:revision>2</cp:revision>
  <dcterms:created xsi:type="dcterms:W3CDTF">2013-01-27T09:14:16Z</dcterms:created>
  <dcterms:modified xsi:type="dcterms:W3CDTF">2026-07-26T18:32:37Z</dcterms:modified>
  <cp:category/>
</cp:coreProperties>
</file>